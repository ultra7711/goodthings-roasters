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38" d="100"/>
          <a:sy n="238" d="100"/>
        </p:scale>
        <p:origin x="331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816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&amp; DESIGN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Things</a:t>
            </a:r>
            <a:endParaRPr lang="en-US" sz="4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Roasters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things, take time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2026.04.05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리서치 구조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4개 트랙의 리서치를 종합하여 디자인 방향성을 도출합니다.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경쟁사 벤치마킹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21031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UX 벤치마킹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브랜드 포지셔닝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21031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타겟 유저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리서치 4트랙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3931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4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393192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인사이트 도출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931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4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393192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C1B19"/>
          </a:solidFill>
          <a:ln w="12700">
            <a:solidFill>
              <a:srgbClr val="D9D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디자인 방향성 확정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3931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4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0" y="393192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6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포토샵 디자인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경쟁사 벤치마킹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해외 스페셜티 커피 브랜드 5곳의 웹사이트를 8개 축으로 분석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 — 경쟁사 벤치마킹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분석 대상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GTR 목표에 가장 근접한 해외 상위 브랜드 5곳을 선정했습니다.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463040" cy="25603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1168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Onyx Coffee Lab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560320"/>
            <a:ext cx="12435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럭셔리 에디토리얼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커스텀 애니메이션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최상위 프리미엄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40864" y="1828800"/>
            <a:ext cx="1463040" cy="25603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201168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Bottle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50592" y="2560320"/>
            <a:ext cx="12435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셀링 미니멀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쇼핑 전환 극최적화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대중적 프리미엄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50208" y="1828800"/>
            <a:ext cx="1463040" cy="25603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59936" y="201168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Arabica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59936" y="2560320"/>
            <a:ext cx="12435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극단적 미니멀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B&amp;W 그레이스케일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영화적 몰입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59552" y="1828800"/>
            <a:ext cx="1463040" cy="25603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201168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Onibus Coffee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2560320"/>
            <a:ext cx="12435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일본식 정갈함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클린 산세리프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따뜻한 커넥팅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68896" y="1828800"/>
            <a:ext cx="1463040" cy="25603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78624" y="201168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Verve Coffee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78624" y="2560320"/>
            <a:ext cx="12435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아티자날 크래프트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어스 톤 팔레트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라이프스타일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 — 비주얼 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비주얼 비교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16916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항목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Onyx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Blue Bottle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% Arabica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Onibus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Verve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색상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크림 + 버건디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화이트 + 시그니처 블루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B&amp;W 그레이스케일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화이트 + 뮤트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세이지 그린 + 크림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이미지 톤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에디토리얼급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밝고 깔끔, 자연광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필름적 질감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클린, 프로덕트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따뜻하고 촉각적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여백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넉넉 (고급 호흡)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매우 넉넉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극단적 (공간=디자인)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적절 (정갈)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균형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전체 인상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럭셔리 에디토리얼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셀링 미니멀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극미니멀, 교토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모던, 일본 정갈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아티자날 크래프트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566160"/>
            <a:ext cx="7680960" cy="640080"/>
          </a:xfrm>
          <a:prstGeom prst="rect">
            <a:avLst/>
          </a:prstGeom>
          <a:solidFill>
            <a:srgbClr val="F5EFE0"/>
          </a:solidFill>
          <a:ln/>
        </p:spPr>
      </p:sp>
      <p:sp>
        <p:nvSpPr>
          <p:cNvPr id="4" name="Shape 3"/>
          <p:cNvSpPr/>
          <p:nvPr/>
        </p:nvSpPr>
        <p:spPr>
          <a:xfrm>
            <a:off x="731520" y="3566160"/>
            <a:ext cx="54864" cy="640080"/>
          </a:xfrm>
          <a:prstGeom prst="rect">
            <a:avLst/>
          </a:prstGeom>
          <a:solidFill>
            <a:srgbClr val="7A6B52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5661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Arabica의 B&amp;W 클린함 + Onibus의 정갈한 따뜻함 = GTR의 방향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 — 핵심 인사이트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5가지 핵심 배움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45720" cy="914400"/>
          </a:xfrm>
          <a:prstGeom prst="rect">
            <a:avLst/>
          </a:prstGeom>
          <a:solidFill>
            <a:srgbClr val="7A6B5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B&amp;W 클린 + 따뜻함의 균형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이미지 톤에서 따뜻함, 레이아웃/타이포는 차갑게 유지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371600"/>
            <a:ext cx="45720" cy="914400"/>
          </a:xfrm>
          <a:prstGeom prst="rect">
            <a:avLst/>
          </a:prstGeom>
          <a:solidFill>
            <a:srgbClr val="7A6B5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히어로 영상 = 최강 무기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씬 전환 호흡, 색보정 일관성이 전체 인상을 결정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468880"/>
            <a:ext cx="45720" cy="914400"/>
          </a:xfrm>
          <a:prstGeom prst="rect">
            <a:avLst/>
          </a:prstGeom>
          <a:solidFill>
            <a:srgbClr val="7A6B5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풍미 노트 그래픽 = 미개척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모든 경쟁사가 텍스트 나열. 인터랙티브 시각화로 업계 최초 차별화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46888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468880"/>
            <a:ext cx="45720" cy="914400"/>
          </a:xfrm>
          <a:prstGeom prst="rect">
            <a:avLst/>
          </a:prstGeom>
          <a:solidFill>
            <a:srgbClr val="7A6B5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카페 메뉴 → 상품 순서는 합리적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매장 방문 유도 1차 목표에 부합하는 현재 섹션 순서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566160"/>
            <a:ext cx="45720" cy="914400"/>
          </a:xfrm>
          <a:prstGeom prst="rect">
            <a:avLst/>
          </a:prstGeom>
          <a:solidFill>
            <a:srgbClr val="7A6B5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인터랙션 수준은 이미 경쟁력 있음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blur→sharp, fade-in stagger 등 Onyx에 근접. 과하지 않게 통제만 잘 하면 OK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UX 벤치마킹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상품 구매 · 구독 · 카페 메뉴 · 브랜드 스토리 — 4개 플로우 분석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B — 종합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경쟁사 미개척 → GTR 차별화 기회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45720" cy="1554480"/>
          </a:xfrm>
          <a:prstGeom prst="rect">
            <a:avLst/>
          </a:prstGeom>
          <a:solidFill>
            <a:srgbClr val="7A6B5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81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온라인 카페 메뉴  ★★★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경쟁사 전무. 이미지 중심 카테고리별 메뉴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버터떡 킬러 메뉴 강조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경쟁사 0/5 구현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45720" cy="1554480"/>
          </a:xfrm>
          <a:prstGeom prst="rect">
            <a:avLst/>
          </a:prstGeom>
          <a:solidFill>
            <a:srgbClr val="7A6B52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81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풍미 노트 시각화  ★★★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레이더 차트, 로스팅 게이지, 플레이버 아이콘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업계 최초 수준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560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경쟁사 최상위: 텍스트 나열 (Onyx)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08960"/>
            <a:ext cx="45720" cy="1554480"/>
          </a:xfrm>
          <a:prstGeom prst="rect">
            <a:avLst/>
          </a:prstGeom>
          <a:solidFill>
            <a:srgbClr val="7A6B5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18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구독 vs 일반 즉시 비교  ★★☆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611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상품 상세 탭 전환으로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가격·혜택 시각화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297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경쟁사 0/5 제대로 구현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08960"/>
            <a:ext cx="45720" cy="1554480"/>
          </a:xfrm>
          <a:prstGeom prst="rect">
            <a:avLst/>
          </a:prstGeom>
          <a:solidFill>
            <a:srgbClr val="7A6B52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218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베이커리 콘텐츠  ★★★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611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갓 구운 빵 비주얼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버터떡 = 매장 방문 트리거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4297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GTR만의 독자 콘텐츠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브랜드 포지셔닝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경쟁사 대비 GTR의 위치를 정의하고 핵심 메시지를 도출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C — 브랜드 성격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브랜드 성격 스펙트럼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축에서 GTR이 위치하는 지점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차가운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0" y="1737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따뜻한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865376"/>
            <a:ext cx="5120640" cy="64008"/>
          </a:xfrm>
          <a:prstGeom prst="roundRect">
            <a:avLst>
              <a:gd name="adj" fmla="val 50000"/>
            </a:avLst>
          </a:prstGeom>
          <a:solidFill>
            <a:srgbClr val="D9D6D2"/>
          </a:solidFill>
          <a:ln/>
        </p:spPr>
      </p:sp>
      <p:sp>
        <p:nvSpPr>
          <p:cNvPr id="8" name="Shape 6"/>
          <p:cNvSpPr/>
          <p:nvPr/>
        </p:nvSpPr>
        <p:spPr>
          <a:xfrm>
            <a:off x="5095037" y="1801368"/>
            <a:ext cx="192024" cy="192024"/>
          </a:xfrm>
          <a:prstGeom prst="ellipse">
            <a:avLst/>
          </a:prstGeom>
          <a:solidFill>
            <a:srgbClr val="1C1B1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미니멀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풍부한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2322576"/>
            <a:ext cx="5120640" cy="64008"/>
          </a:xfrm>
          <a:prstGeom prst="roundRect">
            <a:avLst>
              <a:gd name="adj" fmla="val 50000"/>
            </a:avLst>
          </a:prstGeom>
          <a:solidFill>
            <a:srgbClr val="D9D6D2"/>
          </a:solidFill>
          <a:ln/>
        </p:spPr>
      </p:sp>
      <p:sp>
        <p:nvSpPr>
          <p:cNvPr id="12" name="Shape 10"/>
          <p:cNvSpPr/>
          <p:nvPr/>
        </p:nvSpPr>
        <p:spPr>
          <a:xfrm>
            <a:off x="5760720" y="2258568"/>
            <a:ext cx="192024" cy="192024"/>
          </a:xfrm>
          <a:prstGeom prst="ellipse">
            <a:avLst/>
          </a:prstGeom>
          <a:solidFill>
            <a:srgbClr val="1C1B1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빠른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느린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11680" y="2779776"/>
            <a:ext cx="5120640" cy="64008"/>
          </a:xfrm>
          <a:prstGeom prst="roundRect">
            <a:avLst>
              <a:gd name="adj" fmla="val 50000"/>
            </a:avLst>
          </a:prstGeom>
          <a:solidFill>
            <a:srgbClr val="D9D6D2"/>
          </a:solidFill>
          <a:ln/>
        </p:spPr>
      </p:sp>
      <p:sp>
        <p:nvSpPr>
          <p:cNvPr id="16" name="Shape 14"/>
          <p:cNvSpPr/>
          <p:nvPr/>
        </p:nvSpPr>
        <p:spPr>
          <a:xfrm>
            <a:off x="5760720" y="2715768"/>
            <a:ext cx="192024" cy="192024"/>
          </a:xfrm>
          <a:prstGeom prst="ellipse">
            <a:avLst/>
          </a:prstGeom>
          <a:solidFill>
            <a:srgbClr val="1C1B1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공격적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절제된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0" y="3236976"/>
            <a:ext cx="5120640" cy="64008"/>
          </a:xfrm>
          <a:prstGeom prst="roundRect">
            <a:avLst>
              <a:gd name="adj" fmla="val 50000"/>
            </a:avLst>
          </a:prstGeom>
          <a:solidFill>
            <a:srgbClr val="D9D6D2"/>
          </a:solidFill>
          <a:ln/>
        </p:spPr>
      </p:sp>
      <p:sp>
        <p:nvSpPr>
          <p:cNvPr id="20" name="Shape 18"/>
          <p:cNvSpPr/>
          <p:nvPr/>
        </p:nvSpPr>
        <p:spPr>
          <a:xfrm>
            <a:off x="6016752" y="3172968"/>
            <a:ext cx="192024" cy="192024"/>
          </a:xfrm>
          <a:prstGeom prst="ellipse">
            <a:avLst/>
          </a:prstGeom>
          <a:solidFill>
            <a:srgbClr val="1C1B1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젊은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성숙한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11680" y="3694176"/>
            <a:ext cx="5120640" cy="64008"/>
          </a:xfrm>
          <a:prstGeom prst="roundRect">
            <a:avLst>
              <a:gd name="adj" fmla="val 50000"/>
            </a:avLst>
          </a:prstGeom>
          <a:solidFill>
            <a:srgbClr val="D9D6D2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0211" y="3630168"/>
            <a:ext cx="192024" cy="192024"/>
          </a:xfrm>
          <a:prstGeom prst="ellipse">
            <a:avLst/>
          </a:prstGeom>
          <a:solidFill>
            <a:srgbClr val="1C1B1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대중적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전문적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11680" y="4151376"/>
            <a:ext cx="5120640" cy="64008"/>
          </a:xfrm>
          <a:prstGeom prst="roundRect">
            <a:avLst>
              <a:gd name="adj" fmla="val 50000"/>
            </a:avLst>
          </a:prstGeom>
          <a:solidFill>
            <a:srgbClr val="D9D6D2"/>
          </a:solidFill>
          <a:ln/>
        </p:spPr>
      </p:sp>
      <p:sp>
        <p:nvSpPr>
          <p:cNvPr id="28" name="Shape 26"/>
          <p:cNvSpPr/>
          <p:nvPr/>
        </p:nvSpPr>
        <p:spPr>
          <a:xfrm>
            <a:off x="4736592" y="4087368"/>
            <a:ext cx="192024" cy="192024"/>
          </a:xfrm>
          <a:prstGeom prst="ellipse">
            <a:avLst/>
          </a:prstGeom>
          <a:solidFill>
            <a:srgbClr val="1C1B19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solidFill>
            <a:srgbClr val="F5EFE0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4389120"/>
            <a:ext cx="54864" cy="548640"/>
          </a:xfrm>
          <a:prstGeom prst="rect">
            <a:avLst/>
          </a:prstGeom>
          <a:solidFill>
            <a:srgbClr val="7A6B52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3891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"모던한 정갈함 속의 따뜻함"  </a:t>
            </a:r>
            <a:r>
              <a:rPr lang="en-US" sz="11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차갑지도, 과하지도 않은 단정한 따뜻함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C — 보이스 &amp; 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브랜드 보이스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이렇게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484495"/>
              </p:ext>
            </p:extLst>
          </p:nvPr>
        </p:nvGraphicFramePr>
        <p:xfrm>
          <a:off x="731520" y="1783080"/>
          <a:ext cx="3657600" cy="138988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어조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차분하고 자신감 있는, 과시하지 않는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문장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짧고 여운이 있는 · "천천히 내린 한 잔."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영문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0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소문자</a:t>
                      </a:r>
                      <a:r>
                        <a:rPr lang="en-US" sz="100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선호, 간결 · "good things, take time"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한글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존댓말 기반, 부드러운 · "만나보세요"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이건 아님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83080"/>
          <a:ext cx="3657600" cy="138988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급박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"지금 바로!", "한정 수량!"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과장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"최고급 프리미엄 원두!"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힙스터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"갓생", 과도한 이모지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올캡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"THE BEST COFFEE EVER"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C — 메시지 프레임워크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메시지 계층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94360" cy="594360"/>
          </a:xfrm>
          <a:prstGeom prst="ellipse">
            <a:avLst/>
          </a:prstGeom>
          <a:solidFill>
            <a:srgbClr val="1C1B1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1389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철학 — 웹사이트 전체에 스며드는 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6642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"good things, take time" → 직접 말하지 않고, 페이싱·여백·인터랙션으로 체감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594360" cy="594360"/>
          </a:xfrm>
          <a:prstGeom prst="ellipse">
            <a:avLst/>
          </a:prstGeom>
          <a:solidFill>
            <a:srgbClr val="33333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2128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메시지 — 히어로 + 스토리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2487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"좋은 원두, 좋은 추출, 좋은 시간" → 히어로 영상으로 압축 전달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594360" cy="594360"/>
          </a:xfrm>
          <a:prstGeom prst="ellipse">
            <a:avLst/>
          </a:prstGeom>
          <a:solidFill>
            <a:srgbClr val="6B696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30358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섹션별 메시지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3101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카페 메뉴 → "오늘, 매장에서"  |  상품 → "집에서도 같은 맛을"  |  구독 → "매달, 문 앞까지"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594360" cy="594360"/>
          </a:xfrm>
          <a:prstGeom prst="ellipse">
            <a:avLst/>
          </a:prstGeom>
          <a:solidFill>
            <a:srgbClr val="9C989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38587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상세 메시지 — 서브 페이지, 상품 상세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4133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원두별 원산지·프로세스·풍미 스토리, MANO 머신, 베이커리 철학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타겟 유저 리서치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5개 고객 세그먼트 정의와 페르소나별 웹사이트 이용 시나리오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D — 세그먼트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고객 세그먼트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우선순위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세그먼트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매장 연결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온라인 구매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비중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★★★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카페 단골 / 잠재 방문객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직접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중간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★★★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디저트·베이커리 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직접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낮음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★★☆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홈브루어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간접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높음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★★☆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선물 구매자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간접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높음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★☆☆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커피 입문자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간접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중간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D — 페르소나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페르소나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0" y="1481328"/>
            <a:ext cx="731520" cy="228600"/>
          </a:xfrm>
          <a:prstGeom prst="roundRect">
            <a:avLst>
              <a:gd name="adj" fmla="val 16000"/>
            </a:avLst>
          </a:prstGeom>
          <a:solidFill>
            <a:srgbClr val="F5EFE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14813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6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단골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지은 (29, 마케터)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 2~3회 매장 방문 · 인스타 팔로우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신메뉴 확인, 영업시간, 재확인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인스타 → 웹사이트 → 매장 방문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6576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06640" y="1481328"/>
            <a:ext cx="731520" cy="228600"/>
          </a:xfrm>
          <a:prstGeom prst="roundRect">
            <a:avLst>
              <a:gd name="adj" fmla="val 16000"/>
            </a:avLst>
          </a:prstGeom>
          <a:solidFill>
            <a:srgbClr val="F5EFE0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14813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6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디저트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0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수빈 (33, 디자이너)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783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카페 작업 · 빵 냄새에 재방문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 어떤 빵? 버터떡(킬러 메뉴)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인스타 릴스 → 디저트 메뉴 → 방문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36576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0" y="3172968"/>
            <a:ext cx="731520" cy="228600"/>
          </a:xfrm>
          <a:prstGeom prst="roundRect">
            <a:avLst>
              <a:gd name="adj" fmla="val 16000"/>
            </a:avLst>
          </a:prstGeom>
          <a:solidFill>
            <a:srgbClr val="F5EFE0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1729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6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홈브루어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3172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민수 (36, 개발자)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474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재택근무 · 원두 재구매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원두 상세(원산지, 풍미), 분쇄 옵션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매장 → 원두 탐색 → 구매 → 구독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36576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06640" y="3172968"/>
            <a:ext cx="731520" cy="228600"/>
          </a:xfrm>
          <a:prstGeom prst="roundRect">
            <a:avLst>
              <a:gd name="adj" fmla="val 16000"/>
            </a:avLst>
          </a:prstGeom>
          <a:solidFill>
            <a:srgbClr val="F5EFE0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31729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6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선물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46320" y="3172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정원 (31, 금융)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474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지인 추천으로 발견 · 1회성 구매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"센스 있어 보이는" 선물, 브랜드 신뢰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검색 → 선물 세트 → 구매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디자인 방향성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4개 트랙 리서치의 종합 → 비주얼 시스템 · UX 원칙 · 페이지 구조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DIRECTION — 에센스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브랜드 에센스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"모던한 정갈함 속의 따뜻함"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things, take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미래적 추출 장비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40864" y="274320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40864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버터떡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40864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킬러 베이커리 메뉴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50208" y="274320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50208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50208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화이트·메탈·우드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59552" y="274320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59552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카페 메뉴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59552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경쟁사 전무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68896" y="274320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68896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풍미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68896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업계 최초 시각화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DIRECTION — 전환 목표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전환 우선순위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1C1B1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444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매장 방문 유도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700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카페 메뉴, 갤러리, Come visit us, 히어로 영상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554480"/>
            <a:ext cx="3566160" cy="164592"/>
          </a:xfrm>
          <a:prstGeom prst="roundRect">
            <a:avLst>
              <a:gd name="adj" fmla="val 50000"/>
            </a:avLst>
          </a:prstGeom>
          <a:solidFill>
            <a:srgbClr val="1C1B1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33333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267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브랜드 인지 · 충성도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523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히어로 영상, 스토리, 웹사이트 퀄리티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0" y="2377440"/>
            <a:ext cx="2633472" cy="164592"/>
          </a:xfrm>
          <a:prstGeom prst="roundRect">
            <a:avLst>
              <a:gd name="adj" fmla="val 50000"/>
            </a:avLst>
          </a:prstGeom>
          <a:solidFill>
            <a:srgbClr val="33333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6B696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090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원두 온라인 구매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3467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상품 상세, 풍미 그래픽, 분쇄 옵션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0" y="3200400"/>
            <a:ext cx="1755648" cy="164592"/>
          </a:xfrm>
          <a:prstGeom prst="roundRect">
            <a:avLst>
              <a:gd name="adj" fmla="val 50000"/>
            </a:avLst>
          </a:prstGeom>
          <a:solidFill>
            <a:srgbClr val="6B6963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9C989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913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구독 전환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1696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일반 vs 구독 비교 UI, 어나운스 프로모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03520" y="4023360"/>
            <a:ext cx="1097280" cy="164592"/>
          </a:xfrm>
          <a:prstGeom prst="roundRect">
            <a:avLst>
              <a:gd name="adj" fmla="val 50000"/>
            </a:avLst>
          </a:prstGeom>
          <a:solidFill>
            <a:srgbClr val="9C9890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DIRECTION — 컬러 &amp; 타이포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비주얼 시스템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컬러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AFAF8"/>
          </a:solidFill>
          <a:ln w="6350">
            <a:solidFill>
              <a:srgbClr val="D9D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#FAFAF8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배경 (주)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2F1EF"/>
          </a:solidFill>
          <a:ln w="6350">
            <a:solidFill>
              <a:srgbClr val="D9D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#F2F1EF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배경 (보조)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1C1B19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#1C1B19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텍스트 · CTA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33756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6B6963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3337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#6B6963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보조 텍스트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9C9890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#9C9890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힌트 · 비활성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액센트 컬러 없음 — 이미지의 따뜻한 색감이 유일한 컬러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타이포그래피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828800"/>
          <a:ext cx="365760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요소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크기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Weight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48px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32px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24px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본문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16px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라벨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13px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CTA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14px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47548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EN: Inter 300–600  |  KR: Pretendard Variable 300–600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DIRECTION — UX 원칙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7가지 UX 설계 원칙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63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6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보여주되, 설명하지 않는다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029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이미지·영상이 텍스트보다 먼저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1463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6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1188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여유로운 페이싱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2029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"take time" 체현. 120px+ 여백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463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6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감각의 트리거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029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냄새·촉감을 시각으로 환기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6517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2743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6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정보의 계층화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카드 → 상세 → 추가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26517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11880" y="2743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6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1188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구매 허들 최소화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1188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분쇄 옵션 4종, 구독 토글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6517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2743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6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매장 방문 = 궁극의 CTA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모든 경로가 "가보고 싶다"로 수렴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931920"/>
            <a:ext cx="7680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4023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6B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" y="42976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디테일이 신뢰를 만든다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459028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호버 섬세함, 자간 조정, 풍미 시각화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DIRECTION — 페이지 구조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B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메인 페이지 섹션 순서 (확정)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섹션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전환 역할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타겟 세그먼트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히어로 영상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첫 인상 — MANO+로스팅+공간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전체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시즌 배너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새 소식, 시즌 메뉴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단골, 디저트팬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카페 메뉴 카드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매장 방문 유도 (1차 전환)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단골, 디저트팬, 입문자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브랜드 스토리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신뢰 형성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입문자, 선물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상품 스크롤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원두 구매 (2차 전환)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홈브루어, 선물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서비스 카드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구독 전환 (3차 전환)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홈브루어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Come visit us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매장 방문 최종 CTA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전체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갤러리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공간 매력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디저트팬, 입문자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1B1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푸터 (SNS)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인스타 연결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9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전체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 단계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포토샵 디자인 작업 — 비주얼 시스템 적용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9443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카페 메뉴 페이지 (킬러 콘텐츠 — 최우선)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32841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풍미 노트 시각화 그래픽 방향 확정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71246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히어로 영상 편집 방향 확정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09651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6B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상품 상세 페이지 (구독 비교 UI 포함)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C9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THINGS ROASTERS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things,</a:t>
            </a:r>
            <a:endParaRPr lang="en-US" sz="4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AFA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time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4A4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&amp; Design Direction v1 — 2026.04.05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1321</Words>
  <Application>Microsoft Office PowerPoint</Application>
  <PresentationFormat>화면 슬라이드 쇼(16:9)</PresentationFormat>
  <Paragraphs>392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Inter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GTR Research &amp; Design Direction</dc:title>
  <dc:subject>PptxGenJS Presentation</dc:subject>
  <dc:creator>Good Things Roasters</dc:creator>
  <cp:lastModifiedBy>Jaewoong Chang</cp:lastModifiedBy>
  <cp:revision>2</cp:revision>
  <dcterms:created xsi:type="dcterms:W3CDTF">2026-04-05T08:15:07Z</dcterms:created>
  <dcterms:modified xsi:type="dcterms:W3CDTF">2026-04-05T08:24:39Z</dcterms:modified>
</cp:coreProperties>
</file>